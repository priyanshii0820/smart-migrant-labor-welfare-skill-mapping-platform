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83" r:id="rId2"/>
    <p:sldId id="257" r:id="rId3"/>
    <p:sldId id="282" r:id="rId4"/>
    <p:sldId id="285" r:id="rId5"/>
    <p:sldId id="278" r:id="rId6"/>
    <p:sldId id="264" r:id="rId7"/>
    <p:sldId id="286" r:id="rId8"/>
    <p:sldId id="287" r:id="rId9"/>
    <p:sldId id="280" r:id="rId10"/>
    <p:sldId id="288" r:id="rId11"/>
    <p:sldId id="289" r:id="rId12"/>
    <p:sldId id="27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3" d="100"/>
          <a:sy n="73" d="100"/>
        </p:scale>
        <p:origin x="1042"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SAL EDUCATION</a:t>
            </a:r>
            <a:br>
              <a:rPr lang="en-US" sz="6600" b="1" dirty="0"/>
            </a:br>
            <a:r>
              <a:rPr lang="en-US" sz="6600" b="1" dirty="0"/>
              <a:t>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a:t>
            </a:r>
            <a:r>
              <a:rPr lang="en-IN" dirty="0"/>
              <a:t>Smart Migrant Labor Welfare &amp; Skill Mapping Platform</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01165279"/>
              </p:ext>
            </p:extLst>
          </p:nvPr>
        </p:nvGraphicFramePr>
        <p:xfrm>
          <a:off x="1299257" y="2600314"/>
          <a:ext cx="9394989" cy="2696899"/>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211152">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85747">
                <a:tc>
                  <a:txBody>
                    <a:bodyPr/>
                    <a:lstStyle/>
                    <a:p>
                      <a:pPr marL="0" marR="0" lvl="0" indent="0" algn="l" rtl="0">
                        <a:spcBef>
                          <a:spcPts val="0"/>
                        </a:spcBef>
                        <a:spcAft>
                          <a:spcPts val="0"/>
                        </a:spcAft>
                        <a:buNone/>
                      </a:pPr>
                      <a:r>
                        <a:rPr lang="en-IN" dirty="0"/>
                        <a:t>Patni Priyanshi </a:t>
                      </a:r>
                      <a:r>
                        <a:rPr lang="en-IN" dirty="0" err="1"/>
                        <a:t>Amrishkumar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priyanshic1301@gmail.com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9712881197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893618" y="1651571"/>
            <a:ext cx="10592800" cy="461665"/>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IN" sz="2400" b="1" dirty="0">
                <a:highlight>
                  <a:srgbClr val="FFFF00"/>
                </a:highlight>
              </a:rPr>
              <a:t>Social Governance</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893618" y="551965"/>
            <a:ext cx="9912927" cy="954107"/>
          </a:xfrm>
          <a:prstGeom prst="rect">
            <a:avLst/>
          </a:prstGeom>
          <a:noFill/>
        </p:spPr>
        <p:txBody>
          <a:bodyPr wrap="square" rtlCol="0">
            <a:spAutoFit/>
          </a:bodyPr>
          <a:lstStyle/>
          <a:p>
            <a:r>
              <a:rPr lang="en-US" sz="2800" b="1" dirty="0"/>
              <a:t>Project Tile – </a:t>
            </a:r>
            <a:r>
              <a:rPr lang="en-US" sz="2400" b="1" dirty="0">
                <a:highlight>
                  <a:srgbClr val="FFFF00"/>
                </a:highlight>
              </a:rPr>
              <a:t>[ </a:t>
            </a:r>
            <a:r>
              <a:rPr lang="en-IN" sz="2800" b="1" dirty="0">
                <a:highlight>
                  <a:srgbClr val="FFFF00"/>
                </a:highlight>
              </a:rPr>
              <a:t>Smart Migrant Labor Welfare &amp; Skill Mapping Platform </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89347F36-FB19-5263-D43B-8C90ECFC91C5}"/>
              </a:ext>
            </a:extLst>
          </p:cNvPr>
          <p:cNvPicPr>
            <a:picLocks noChangeAspect="1"/>
          </p:cNvPicPr>
          <p:nvPr/>
        </p:nvPicPr>
        <p:blipFill>
          <a:blip r:embed="rId3"/>
          <a:stretch>
            <a:fillRect/>
          </a:stretch>
        </p:blipFill>
        <p:spPr>
          <a:xfrm rot="5400000">
            <a:off x="3921720" y="3937629"/>
            <a:ext cx="1387090" cy="11747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2500" y="839932"/>
            <a:ext cx="10607040" cy="3600986"/>
          </a:xfrm>
          <a:prstGeom prst="rect">
            <a:avLst/>
          </a:prstGeom>
          <a:noFill/>
        </p:spPr>
        <p:txBody>
          <a:bodyPr wrap="square" rtlCol="0">
            <a:spAutoFit/>
          </a:bodyPr>
          <a:lstStyle/>
          <a:p>
            <a:pPr fontAlgn="base"/>
            <a:r>
              <a:rPr lang="en-US" sz="2000" b="1" dirty="0"/>
              <a:t>Problem Statement : </a:t>
            </a:r>
            <a:r>
              <a:rPr lang="en-IN" sz="2000" b="1" dirty="0"/>
              <a:t>Smart Migrant Labor Welfare &amp; Skill Mapping Platform</a:t>
            </a:r>
            <a:endParaRPr lang="en-US" sz="2000" b="1" dirty="0"/>
          </a:p>
          <a:p>
            <a:pPr fontAlgn="base"/>
            <a:endParaRPr lang="en-US" sz="2000" b="1" dirty="0"/>
          </a:p>
          <a:p>
            <a:pPr fontAlgn="base"/>
            <a:r>
              <a:rPr lang="en-US" sz="2000" b="1" dirty="0"/>
              <a:t>The Challenge</a:t>
            </a:r>
            <a:r>
              <a:rPr lang="en-US" sz="2000" dirty="0"/>
              <a:t> </a:t>
            </a:r>
            <a:r>
              <a:rPr lang="en-US" sz="2000" b="1" dirty="0"/>
              <a:t>:</a:t>
            </a:r>
          </a:p>
          <a:p>
            <a:pPr fontAlgn="base"/>
            <a:r>
              <a:rPr lang="en-IN" sz="2000" dirty="0"/>
              <a:t>Gujarat hosts a large interstate migrant workforce in construction, textiles, and diamond polishing, many of whom lack access to welfare schemes, fair wage information, and safe working condition reporting, leaving them vulnerable to exploitation.</a:t>
            </a:r>
          </a:p>
          <a:p>
            <a:pPr fontAlgn="base"/>
            <a:endParaRPr lang="en-US" sz="2000" dirty="0"/>
          </a:p>
          <a:p>
            <a:pPr fontAlgn="base"/>
            <a:r>
              <a:rPr lang="en-US" sz="2000" b="1" dirty="0"/>
              <a:t>The Objective</a:t>
            </a:r>
            <a:r>
              <a:rPr lang="en-US" sz="2000" dirty="0"/>
              <a:t> </a:t>
            </a:r>
            <a:r>
              <a:rPr lang="en-US" sz="2000" b="1" dirty="0"/>
              <a:t>:</a:t>
            </a:r>
          </a:p>
          <a:p>
            <a:pPr fontAlgn="base"/>
            <a:r>
              <a:rPr lang="en-IN" sz="2000" dirty="0"/>
              <a:t>Develop Agentic AI solutions that map migrant labour skills and locations, connect them to welfare entitlements, and flag unsafe or exploitative working conditions.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197700" y="294184"/>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53054" y="966787"/>
            <a:ext cx="10607040" cy="4924425"/>
          </a:xfrm>
          <a:prstGeom prst="rect">
            <a:avLst/>
          </a:prstGeom>
          <a:noFill/>
        </p:spPr>
        <p:txBody>
          <a:bodyPr wrap="square" rtlCol="0">
            <a:spAutoFit/>
          </a:bodyPr>
          <a:lstStyle/>
          <a:p>
            <a:r>
              <a:rPr lang="en-IN" sz="2000" dirty="0"/>
              <a:t>The proposed solution is a </a:t>
            </a:r>
            <a:r>
              <a:rPr lang="en-IN" sz="2000" b="1" dirty="0"/>
              <a:t>multi-agent AI platform</a:t>
            </a:r>
            <a:r>
              <a:rPr lang="en-IN" sz="2000" dirty="0"/>
              <a:t> that helps migrant workers with </a:t>
            </a:r>
            <a:r>
              <a:rPr lang="en-IN" sz="2000" b="1" dirty="0"/>
              <a:t>job opportunities, welfare schemes, fair wages, and workplace safety</a:t>
            </a:r>
            <a:r>
              <a:rPr lang="en-IN" sz="2000" dirty="0"/>
              <a:t>.</a:t>
            </a:r>
          </a:p>
          <a:p>
            <a:endParaRPr lang="en-IN" sz="2000" dirty="0"/>
          </a:p>
          <a:p>
            <a:pPr marL="342900" lvl="0" indent="-342900">
              <a:buFont typeface="Arial" panose="020B0604020202020204" pitchFamily="34" charset="0"/>
              <a:buChar char="•"/>
            </a:pPr>
            <a:r>
              <a:rPr lang="en-IN" sz="2000" b="1" dirty="0"/>
              <a:t>Skill Mapping Agent</a:t>
            </a:r>
            <a:r>
              <a:rPr lang="en-IN" sz="2000" dirty="0"/>
              <a:t> – Matches skills with suitable jobs.</a:t>
            </a:r>
          </a:p>
          <a:p>
            <a:pPr lvl="0"/>
            <a:endParaRPr lang="en-IN" sz="2000" dirty="0"/>
          </a:p>
          <a:p>
            <a:pPr marL="342900" lvl="0" indent="-342900">
              <a:buFont typeface="Arial" panose="020B0604020202020204" pitchFamily="34" charset="0"/>
              <a:buChar char="•"/>
            </a:pPr>
            <a:r>
              <a:rPr lang="en-IN" sz="2000" b="1" dirty="0"/>
              <a:t>Welfare Agent</a:t>
            </a:r>
            <a:r>
              <a:rPr lang="en-IN" sz="2000" dirty="0"/>
              <a:t> – Finds eligible government schemes.</a:t>
            </a:r>
          </a:p>
          <a:p>
            <a:pPr lvl="0"/>
            <a:endParaRPr lang="en-IN" sz="2000" dirty="0"/>
          </a:p>
          <a:p>
            <a:pPr marL="342900" lvl="0" indent="-342900">
              <a:buFont typeface="Arial" panose="020B0604020202020204" pitchFamily="34" charset="0"/>
              <a:buChar char="•"/>
            </a:pPr>
            <a:r>
              <a:rPr lang="en-IN" sz="2000" b="1" dirty="0"/>
              <a:t>Wage Monitoring Agent</a:t>
            </a:r>
            <a:r>
              <a:rPr lang="en-IN" sz="2000" dirty="0"/>
              <a:t> – Identifies possible wage exploitation.</a:t>
            </a:r>
          </a:p>
          <a:p>
            <a:pPr lvl="0"/>
            <a:endParaRPr lang="en-IN" sz="2000" dirty="0"/>
          </a:p>
          <a:p>
            <a:pPr marL="342900" lvl="0" indent="-342900">
              <a:buFont typeface="Arial" panose="020B0604020202020204" pitchFamily="34" charset="0"/>
              <a:buChar char="•"/>
            </a:pPr>
            <a:r>
              <a:rPr lang="en-IN" sz="2000" b="1" dirty="0"/>
              <a:t>Grievance &amp; Safety Agent</a:t>
            </a:r>
            <a:r>
              <a:rPr lang="en-IN" sz="2000" dirty="0"/>
              <a:t> – Handles workplace complaints.</a:t>
            </a:r>
          </a:p>
          <a:p>
            <a:pPr lvl="0"/>
            <a:endParaRPr lang="en-IN" sz="2000" dirty="0"/>
          </a:p>
          <a:p>
            <a:pPr marL="342900" lvl="0" indent="-342900">
              <a:buFont typeface="Arial" panose="020B0604020202020204" pitchFamily="34" charset="0"/>
              <a:buChar char="•"/>
            </a:pPr>
            <a:r>
              <a:rPr lang="en-IN" sz="2000" b="1" dirty="0"/>
              <a:t>Dashboard Agent</a:t>
            </a:r>
            <a:r>
              <a:rPr lang="en-IN" sz="2000" dirty="0"/>
              <a:t> – Displays worker and welfare insights.</a:t>
            </a:r>
          </a:p>
          <a:p>
            <a:pPr lvl="0"/>
            <a:endParaRPr lang="en-IN" sz="2000" dirty="0"/>
          </a:p>
          <a:p>
            <a:pPr marL="342900" indent="-342900">
              <a:buFont typeface="Arial" panose="020B0604020202020204" pitchFamily="34" charset="0"/>
              <a:buChar char="•"/>
            </a:pPr>
            <a:r>
              <a:rPr lang="en-IN" sz="2000" b="1" dirty="0"/>
              <a:t>RAG</a:t>
            </a:r>
            <a:r>
              <a:rPr lang="en-IN" sz="2000" dirty="0"/>
              <a:t> provides reliable scheme and </a:t>
            </a:r>
            <a:r>
              <a:rPr lang="en-IN" sz="2000" dirty="0" err="1"/>
              <a:t>labor</a:t>
            </a:r>
            <a:r>
              <a:rPr lang="en-IN" sz="2000" dirty="0"/>
              <a:t>-law information, while </a:t>
            </a:r>
            <a:r>
              <a:rPr lang="en-IN" sz="2000" b="1" dirty="0"/>
              <a:t>IBM Granite LLM</a:t>
            </a:r>
            <a:r>
              <a:rPr lang="en-IN" sz="2000" dirty="0"/>
              <a:t> delivers personalized AI assistance.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195702" y="38116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94067" y="236385"/>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56826" y="908257"/>
            <a:ext cx="10515600" cy="6063198"/>
          </a:xfrm>
          <a:prstGeom prst="rect">
            <a:avLst/>
          </a:prstGeom>
          <a:noFill/>
        </p:spPr>
        <p:txBody>
          <a:bodyPr wrap="square" lIns="91440" tIns="45720" rIns="91440" bIns="45720" rtlCol="0" anchor="t">
            <a:spAutoFit/>
          </a:bodyPr>
          <a:lstStyle/>
          <a:p>
            <a:pPr marL="285750" lvl="0" indent="-285750">
              <a:buFont typeface="Wingdings" panose="05000000000000000000" pitchFamily="2" charset="2"/>
              <a:buChar char="§"/>
            </a:pPr>
            <a:r>
              <a:rPr lang="en-IN" sz="1800" b="1" dirty="0"/>
              <a:t>IBM Bob</a:t>
            </a:r>
            <a:r>
              <a:rPr lang="en-IN" sz="1800" dirty="0"/>
              <a:t> – For designing and developing the </a:t>
            </a:r>
            <a:r>
              <a:rPr lang="en-IN" sz="1800" b="1" dirty="0"/>
              <a:t>AI-powered multi-agent platform</a:t>
            </a:r>
            <a:r>
              <a:rPr lang="en-IN" sz="1800" dirty="0"/>
              <a:t> and creating the user-friendly application interface. </a:t>
            </a:r>
          </a:p>
          <a:p>
            <a:pPr lvl="0"/>
            <a:endParaRPr lang="en-IN" sz="1800" dirty="0"/>
          </a:p>
          <a:p>
            <a:pPr marL="285750" lvl="0" indent="-285750">
              <a:buFont typeface="Wingdings" panose="05000000000000000000" pitchFamily="2" charset="2"/>
              <a:buChar char="§"/>
            </a:pPr>
            <a:r>
              <a:rPr lang="en-IN" sz="1800" b="1" dirty="0"/>
              <a:t>IBM Granite LLM</a:t>
            </a:r>
            <a:r>
              <a:rPr lang="en-IN" sz="1800" dirty="0"/>
              <a:t> – For </a:t>
            </a:r>
            <a:r>
              <a:rPr lang="en-IN" sz="1800" b="1" dirty="0"/>
              <a:t>natural language understanding, reasoning, summarization, and personalized recommendations</a:t>
            </a:r>
            <a:r>
              <a:rPr lang="en-IN" sz="1800" dirty="0"/>
              <a:t> for migrant workers. </a:t>
            </a:r>
          </a:p>
          <a:p>
            <a:pPr lvl="0"/>
            <a:endParaRPr lang="en-IN" sz="1800" dirty="0"/>
          </a:p>
          <a:p>
            <a:pPr marL="285750" lvl="0" indent="-285750">
              <a:buFont typeface="Wingdings" panose="05000000000000000000" pitchFamily="2" charset="2"/>
              <a:buChar char="§"/>
            </a:pPr>
            <a:r>
              <a:rPr lang="en-IN" sz="1800" b="1" dirty="0"/>
              <a:t>IBM Cloud</a:t>
            </a:r>
            <a:r>
              <a:rPr lang="en-IN" sz="1800" dirty="0"/>
              <a:t> – Provides a </a:t>
            </a:r>
            <a:r>
              <a:rPr lang="en-IN" sz="1800" b="1" dirty="0"/>
              <a:t>secure, reliable, and scalable environment</a:t>
            </a:r>
            <a:r>
              <a:rPr lang="en-IN" sz="1800" dirty="0"/>
              <a:t> to deploy and run the platform and its AI services. </a:t>
            </a:r>
          </a:p>
          <a:p>
            <a:pPr lvl="0"/>
            <a:endParaRPr lang="en-IN" sz="1800" dirty="0"/>
          </a:p>
          <a:p>
            <a:pPr marL="285750" lvl="0" indent="-285750">
              <a:buFont typeface="Wingdings" panose="05000000000000000000" pitchFamily="2" charset="2"/>
              <a:buChar char="§"/>
            </a:pPr>
            <a:r>
              <a:rPr lang="en-IN" sz="1800" b="1" dirty="0"/>
              <a:t>RAG (Retrieval-Augmented Generation)</a:t>
            </a:r>
            <a:r>
              <a:rPr lang="en-IN" sz="1800" dirty="0"/>
              <a:t> – Fetches reliable information about </a:t>
            </a:r>
            <a:r>
              <a:rPr lang="en-IN" sz="1800" b="1" dirty="0"/>
              <a:t>government welfare schemes, </a:t>
            </a:r>
            <a:r>
              <a:rPr lang="en-IN" sz="1800" b="1" dirty="0" err="1"/>
              <a:t>labor</a:t>
            </a:r>
            <a:r>
              <a:rPr lang="en-IN" sz="1800" b="1" dirty="0"/>
              <a:t> laws, minimum wages, and worker rights</a:t>
            </a:r>
            <a:r>
              <a:rPr lang="en-IN" sz="1800" dirty="0"/>
              <a:t> before generating responses. </a:t>
            </a:r>
          </a:p>
          <a:p>
            <a:pPr lvl="0"/>
            <a:endParaRPr lang="en-IN" sz="1800" dirty="0"/>
          </a:p>
          <a:p>
            <a:pPr marL="285750" lvl="0" indent="-285750">
              <a:buFont typeface="Wingdings" panose="05000000000000000000" pitchFamily="2" charset="2"/>
              <a:buChar char="§"/>
            </a:pPr>
            <a:r>
              <a:rPr lang="en-IN" sz="1800" b="1" dirty="0"/>
              <a:t>Vector Database</a:t>
            </a:r>
            <a:r>
              <a:rPr lang="en-IN" sz="1800" dirty="0"/>
              <a:t> – Stores and retrieves </a:t>
            </a:r>
            <a:r>
              <a:rPr lang="en-IN" sz="1800" b="1" dirty="0"/>
              <a:t>welfare scheme information, </a:t>
            </a:r>
            <a:r>
              <a:rPr lang="en-IN" sz="1800" b="1" dirty="0" err="1"/>
              <a:t>labor</a:t>
            </a:r>
            <a:r>
              <a:rPr lang="en-IN" sz="1800" b="1" dirty="0"/>
              <a:t> regulations, wage data, and other relevant documents</a:t>
            </a:r>
            <a:r>
              <a:rPr lang="en-IN" sz="1800" dirty="0"/>
              <a:t> for efficient RAG-based retrieval. </a:t>
            </a:r>
          </a:p>
          <a:p>
            <a:pPr lvl="0"/>
            <a:endParaRPr lang="en-IN" sz="1800" dirty="0"/>
          </a:p>
          <a:p>
            <a:pPr marL="285750" lvl="0" indent="-285750">
              <a:buFont typeface="Wingdings" panose="05000000000000000000" pitchFamily="2" charset="2"/>
              <a:buChar char="§"/>
            </a:pPr>
            <a:r>
              <a:rPr lang="en-IN" sz="1800" b="1" dirty="0"/>
              <a:t>Multi-Agent Architecture</a:t>
            </a:r>
            <a:r>
              <a:rPr lang="en-IN" sz="1800" dirty="0"/>
              <a:t> – Enables specialized AI agents to work together for </a:t>
            </a:r>
            <a:r>
              <a:rPr lang="en-IN" sz="1800" b="1" dirty="0"/>
              <a:t>skill mapping, welfare eligibility, wage monitoring, grievance reporting, and </a:t>
            </a:r>
            <a:r>
              <a:rPr lang="en-IN" sz="1800" b="1" dirty="0" err="1"/>
              <a:t>labor</a:t>
            </a:r>
            <a:r>
              <a:rPr lang="en-IN" sz="1800" b="1" dirty="0"/>
              <a:t> welfare analytics</a:t>
            </a:r>
            <a:r>
              <a:rPr lang="en-IN" sz="1800" dirty="0"/>
              <a: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170688" y="353246"/>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1" y="1167493"/>
            <a:ext cx="7750194" cy="5075651"/>
          </a:xfrm>
          <a:prstGeom prst="rect">
            <a:avLst/>
          </a:prstGeom>
          <a:noFill/>
        </p:spPr>
        <p:txBody>
          <a:bodyPr wrap="square" rtlCol="0">
            <a:spAutoFit/>
          </a:bodyPr>
          <a:lstStyle/>
          <a:p>
            <a:r>
              <a:rPr lang="en-IN" sz="2000" b="1" dirty="0"/>
              <a:t>Role of Agentic AI in Smart Migrant Labor Welfare &amp; Skill Mapping Platform:</a:t>
            </a:r>
          </a:p>
          <a:p>
            <a:r>
              <a:rPr lang="en-IN" sz="2000" b="1" dirty="0"/>
              <a:t>Agentic AI</a:t>
            </a:r>
            <a:r>
              <a:rPr lang="en-IN" sz="2000" dirty="0"/>
              <a:t> enables the platform to work as an </a:t>
            </a:r>
            <a:r>
              <a:rPr lang="en-IN" sz="2000" b="1" dirty="0"/>
              <a:t>intelligent, autonomous system</a:t>
            </a:r>
            <a:r>
              <a:rPr lang="en-IN" sz="2000" dirty="0"/>
              <a:t> that coordinates multiple specialized agents to support migrant workers.</a:t>
            </a:r>
          </a:p>
          <a:p>
            <a:r>
              <a:rPr lang="en-IN" sz="2000" dirty="0"/>
              <a:t>Each agent performs a specific task such as </a:t>
            </a:r>
            <a:r>
              <a:rPr lang="en-IN" sz="2000" b="1" dirty="0"/>
              <a:t>skill mapping, welfare scheme eligibility, wage monitoring, and grievance reporting</a:t>
            </a:r>
            <a:r>
              <a:rPr lang="en-IN" sz="2000" dirty="0"/>
              <a:t>, while collaborating with other agents.</a:t>
            </a:r>
          </a:p>
          <a:p>
            <a:r>
              <a:rPr lang="en-IN" sz="2000" dirty="0"/>
              <a:t>It provides </a:t>
            </a:r>
            <a:r>
              <a:rPr lang="en-IN" sz="2000" b="1" dirty="0"/>
              <a:t>personalized and context-aware assistance</a:t>
            </a:r>
            <a:r>
              <a:rPr lang="en-IN" sz="2000" dirty="0"/>
              <a:t> based on the worker’s skills, location, occupation, wages, and welfare needs. Using </a:t>
            </a:r>
            <a:r>
              <a:rPr lang="en-IN" sz="2000" b="1" dirty="0"/>
              <a:t>RAG</a:t>
            </a:r>
            <a:r>
              <a:rPr lang="en-IN" sz="2000" dirty="0"/>
              <a:t>, it retrieves reliable information about government schemes, </a:t>
            </a:r>
            <a:r>
              <a:rPr lang="en-IN" sz="2000" dirty="0" err="1"/>
              <a:t>labor</a:t>
            </a:r>
            <a:r>
              <a:rPr lang="en-IN" sz="2000" dirty="0"/>
              <a:t> laws, wages, and worker rights.</a:t>
            </a:r>
          </a:p>
          <a:p>
            <a:r>
              <a:rPr lang="en-IN" sz="2000" dirty="0"/>
              <a:t>Overall, Agentic AI makes the platform </a:t>
            </a:r>
            <a:r>
              <a:rPr lang="en-IN" sz="2000" b="1" dirty="0"/>
              <a:t>proactive, personalized, and efficient</a:t>
            </a:r>
            <a:r>
              <a:rPr lang="en-IN" sz="2000" dirty="0"/>
              <a:t>, helping migrant workers access </a:t>
            </a:r>
            <a:r>
              <a:rPr lang="en-IN" sz="2000" b="1" dirty="0"/>
              <a:t>jobs, welfare benefits, fair wages, and safer working conditions</a:t>
            </a:r>
            <a:r>
              <a:rPr lang="en-IN" sz="2000" dirty="0"/>
              <a:t>.</a:t>
            </a:r>
          </a:p>
          <a:p>
            <a:endParaRPr lang="en-IN" sz="2000" b="1" dirty="0"/>
          </a:p>
        </p:txBody>
      </p:sp>
      <p:pic>
        <p:nvPicPr>
          <p:cNvPr id="5" name="Picture 4">
            <a:extLst>
              <a:ext uri="{FF2B5EF4-FFF2-40B4-BE49-F238E27FC236}">
                <a16:creationId xmlns:a16="http://schemas.microsoft.com/office/drawing/2014/main" id="{BEA6DF7B-C056-F65D-927D-608A792ADF47}"/>
              </a:ext>
            </a:extLst>
          </p:cNvPr>
          <p:cNvPicPr>
            <a:picLocks noChangeAspect="1"/>
          </p:cNvPicPr>
          <p:nvPr/>
        </p:nvPicPr>
        <p:blipFill>
          <a:blip r:embed="rId3"/>
          <a:stretch>
            <a:fillRect/>
          </a:stretch>
        </p:blipFill>
        <p:spPr>
          <a:xfrm>
            <a:off x="8395348" y="1167493"/>
            <a:ext cx="2795752" cy="41936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125599" y="49459"/>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98868" y="572679"/>
            <a:ext cx="11301984" cy="6155531"/>
          </a:xfrm>
          <a:prstGeom prst="rect">
            <a:avLst/>
          </a:prstGeom>
          <a:noFill/>
        </p:spPr>
        <p:txBody>
          <a:bodyPr wrap="square" rtlCol="0">
            <a:spAutoFit/>
          </a:bodyPr>
          <a:lstStyle/>
          <a:p>
            <a:pPr marL="342900" indent="-342900">
              <a:buFont typeface="Arial" panose="020B0604020202020204" pitchFamily="34" charset="0"/>
              <a:buChar char="•"/>
            </a:pPr>
            <a:r>
              <a:rPr lang="en-IN" sz="2000" dirty="0"/>
              <a:t>The proposed platform combines </a:t>
            </a:r>
            <a:r>
              <a:rPr lang="en-IN" sz="2000" b="1" dirty="0"/>
              <a:t>Agentic AI, RAG, skill mapping, and welfare assistance</a:t>
            </a:r>
            <a:r>
              <a:rPr lang="en-IN" sz="2000" dirty="0"/>
              <a:t> into one intelligent system.</a:t>
            </a:r>
          </a:p>
          <a:p>
            <a:endParaRPr lang="en-IN" sz="2000" dirty="0"/>
          </a:p>
          <a:p>
            <a:pPr marL="342900" indent="-342900">
              <a:buFont typeface="Arial" panose="020B0604020202020204" pitchFamily="34" charset="0"/>
              <a:buChar char="•"/>
            </a:pPr>
            <a:r>
              <a:rPr lang="en-IN" sz="2000" b="1" dirty="0"/>
              <a:t>Multi-Agent Intelligence</a:t>
            </a:r>
            <a:r>
              <a:rPr lang="en-IN" sz="2000" dirty="0"/>
              <a:t> – Specialized agents collaborate for skill mapping, welfare eligibility, wage monitoring, and grievance handling.</a:t>
            </a:r>
          </a:p>
          <a:p>
            <a:endParaRPr lang="en-IN" sz="2000" dirty="0"/>
          </a:p>
          <a:p>
            <a:pPr marL="342900" indent="-342900">
              <a:buFont typeface="Arial" panose="020B0604020202020204" pitchFamily="34" charset="0"/>
              <a:buChar char="•"/>
            </a:pPr>
            <a:r>
              <a:rPr lang="en-IN" sz="2000" b="1" dirty="0"/>
              <a:t>RAG-Based Accuracy</a:t>
            </a:r>
            <a:r>
              <a:rPr lang="en-IN" sz="2000" dirty="0"/>
              <a:t> – Retrieves reliable information on </a:t>
            </a:r>
            <a:r>
              <a:rPr lang="en-IN" sz="2000" b="1" dirty="0"/>
              <a:t>government schemes, </a:t>
            </a:r>
            <a:r>
              <a:rPr lang="en-IN" sz="2000" b="1" dirty="0" err="1"/>
              <a:t>labor</a:t>
            </a:r>
            <a:r>
              <a:rPr lang="en-IN" sz="2000" b="1" dirty="0"/>
              <a:t> laws, and minimum wages</a:t>
            </a:r>
            <a:r>
              <a:rPr lang="en-IN" sz="2000" dirty="0"/>
              <a:t>.</a:t>
            </a:r>
          </a:p>
          <a:p>
            <a:endParaRPr lang="en-IN" sz="2000" dirty="0"/>
          </a:p>
          <a:p>
            <a:pPr marL="342900" indent="-342900">
              <a:buFont typeface="Arial" panose="020B0604020202020204" pitchFamily="34" charset="0"/>
              <a:buChar char="•"/>
            </a:pPr>
            <a:r>
              <a:rPr lang="en-IN" sz="2000" b="1" dirty="0"/>
              <a:t>Personalized Support</a:t>
            </a:r>
            <a:r>
              <a:rPr lang="en-IN" sz="2000" dirty="0"/>
              <a:t> – Provides recommendations based on workers’ </a:t>
            </a:r>
            <a:r>
              <a:rPr lang="en-IN" sz="2000" b="1" dirty="0"/>
              <a:t>skills, location, occupation, and experience</a:t>
            </a:r>
            <a:r>
              <a:rPr lang="en-IN" sz="2000" dirty="0"/>
              <a:t>.</a:t>
            </a:r>
          </a:p>
          <a:p>
            <a:endParaRPr lang="en-IN" sz="2000" dirty="0"/>
          </a:p>
          <a:p>
            <a:pPr marL="342900" indent="-342900">
              <a:buFont typeface="Arial" panose="020B0604020202020204" pitchFamily="34" charset="0"/>
              <a:buChar char="•"/>
            </a:pPr>
            <a:r>
              <a:rPr lang="en-IN" sz="2000" b="1" dirty="0"/>
              <a:t>Wage &amp; Safety Monitoring</a:t>
            </a:r>
            <a:r>
              <a:rPr lang="en-IN" sz="2000" dirty="0"/>
              <a:t> – Identifies potential </a:t>
            </a:r>
            <a:r>
              <a:rPr lang="en-IN" sz="2000" b="1" dirty="0"/>
              <a:t>wage exploitation and unsafe working conditions</a:t>
            </a:r>
            <a:r>
              <a:rPr lang="en-IN" sz="2000" dirty="0"/>
              <a:t>.</a:t>
            </a:r>
          </a:p>
          <a:p>
            <a:endParaRPr lang="en-IN" sz="2000" dirty="0"/>
          </a:p>
          <a:p>
            <a:pPr marL="342900" indent="-342900">
              <a:buFont typeface="Arial" panose="020B0604020202020204" pitchFamily="34" charset="0"/>
              <a:buChar char="•"/>
            </a:pPr>
            <a:r>
              <a:rPr lang="en-IN" sz="2000" b="1" dirty="0"/>
              <a:t>Multilingual Accessibility</a:t>
            </a:r>
            <a:r>
              <a:rPr lang="en-IN" sz="2000" dirty="0"/>
              <a:t> – Makes welfare and </a:t>
            </a:r>
            <a:r>
              <a:rPr lang="en-IN" sz="2000" dirty="0" err="1"/>
              <a:t>labor</a:t>
            </a:r>
            <a:r>
              <a:rPr lang="en-IN" sz="2000" dirty="0"/>
              <a:t> information easy to understand for migrant workers.</a:t>
            </a:r>
          </a:p>
          <a:p>
            <a:endParaRPr lang="en-IN" sz="2000" dirty="0"/>
          </a:p>
          <a:p>
            <a:pPr marL="342900" indent="-342900">
              <a:buFont typeface="Arial" panose="020B0604020202020204" pitchFamily="34" charset="0"/>
              <a:buChar char="•"/>
            </a:pPr>
            <a:r>
              <a:rPr lang="en-IN" sz="2000" dirty="0"/>
              <a:t>Overall, the solution provides a </a:t>
            </a:r>
            <a:r>
              <a:rPr lang="en-IN" sz="2000" b="1" dirty="0"/>
              <a:t>smart, adaptive, and worker-centric digital welfare platform</a:t>
            </a:r>
            <a:r>
              <a:rPr lang="en-IN" sz="2000" dirty="0"/>
              <a:t>.</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609124" y="34024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840352" y="51769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i="1" dirty="0">
                <a:solidFill>
                  <a:schemeClr val="tx1">
                    <a:lumMod val="95000"/>
                    <a:lumOff val="5000"/>
                  </a:schemeClr>
                </a:solidFill>
              </a:rPr>
              <a:t>1. Government &amp; Job Portal Integration –</a:t>
            </a:r>
          </a:p>
          <a:p>
            <a:r>
              <a:rPr lang="en-IN" sz="2000" dirty="0"/>
              <a:t>The platform can be integrated with </a:t>
            </a:r>
            <a:r>
              <a:rPr lang="en-IN" sz="2000" b="1" dirty="0"/>
              <a:t>government welfare portals and job platforms</a:t>
            </a:r>
            <a:r>
              <a:rPr lang="en-IN" sz="2000" dirty="0"/>
              <a:t> to provide real-time information about available schemes, job opportunities, and application status. This will make welfare access and employment matching faster and more convenient.</a:t>
            </a:r>
          </a:p>
          <a:p>
            <a:endParaRPr lang="en-IN" sz="2000" dirty="0"/>
          </a:p>
          <a:p>
            <a:r>
              <a:rPr lang="en-IN" sz="2000" b="1" i="1" dirty="0"/>
              <a:t>2. AI-Powered Voice Assistant &amp; Multilingual Support –</a:t>
            </a:r>
          </a:p>
          <a:p>
            <a:r>
              <a:rPr lang="en-IN" sz="2000" dirty="0"/>
              <a:t>Adding </a:t>
            </a:r>
            <a:r>
              <a:rPr lang="en-IN" sz="2000" b="1" dirty="0"/>
              <a:t>voice-based interaction and multiple Indian languages</a:t>
            </a:r>
            <a:r>
              <a:rPr lang="en-IN" sz="2000" dirty="0"/>
              <a:t> will help migrant workers access the platform easily, especially users with limited literacy or language barriers. Workers can interact naturally through </a:t>
            </a:r>
            <a:r>
              <a:rPr lang="en-IN" sz="2000" b="1" dirty="0"/>
              <a:t>voice, text, or images</a:t>
            </a:r>
            <a:r>
              <a:rPr lang="en-IN" sz="2000" dirty="0"/>
              <a: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06929" y="407077"/>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pic>
        <p:nvPicPr>
          <p:cNvPr id="5" name="Picture 4">
            <a:extLst>
              <a:ext uri="{FF2B5EF4-FFF2-40B4-BE49-F238E27FC236}">
                <a16:creationId xmlns:a16="http://schemas.microsoft.com/office/drawing/2014/main" id="{4A9DEF11-B146-7B91-899F-C7AAFF031CCB}"/>
              </a:ext>
            </a:extLst>
          </p:cNvPr>
          <p:cNvPicPr>
            <a:picLocks noChangeAspect="1"/>
          </p:cNvPicPr>
          <p:nvPr/>
        </p:nvPicPr>
        <p:blipFill>
          <a:blip r:embed="rId2"/>
          <a:stretch>
            <a:fillRect/>
          </a:stretch>
        </p:blipFill>
        <p:spPr>
          <a:xfrm>
            <a:off x="2433709" y="1233886"/>
            <a:ext cx="7324582" cy="562411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61478" y="323417"/>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a:p>
            <a:pPr algn="ctr"/>
            <a:endParaRPr lang="en-US" dirty="0"/>
          </a:p>
        </p:txBody>
      </p:sp>
      <p:pic>
        <p:nvPicPr>
          <p:cNvPr id="3" name="Picture 2">
            <a:extLst>
              <a:ext uri="{FF2B5EF4-FFF2-40B4-BE49-F238E27FC236}">
                <a16:creationId xmlns:a16="http://schemas.microsoft.com/office/drawing/2014/main" id="{30A0B2CF-B1E7-12D7-4A6C-9A54E8B3195F}"/>
              </a:ext>
            </a:extLst>
          </p:cNvPr>
          <p:cNvPicPr>
            <a:picLocks noChangeAspect="1"/>
          </p:cNvPicPr>
          <p:nvPr/>
        </p:nvPicPr>
        <p:blipFill>
          <a:blip r:embed="rId2"/>
          <a:stretch>
            <a:fillRect/>
          </a:stretch>
        </p:blipFill>
        <p:spPr>
          <a:xfrm>
            <a:off x="2015008" y="1144207"/>
            <a:ext cx="8161984" cy="505486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823</Words>
  <Application>Microsoft Office PowerPoint</Application>
  <PresentationFormat>Widescreen</PresentationFormat>
  <Paragraphs>86</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SAL EDUCATION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priyanshi patani</cp:lastModifiedBy>
  <cp:revision>16</cp:revision>
  <dcterms:created xsi:type="dcterms:W3CDTF">2025-07-08T05:06:56Z</dcterms:created>
  <dcterms:modified xsi:type="dcterms:W3CDTF">2026-09-04T08:29:41Z</dcterms:modified>
</cp:coreProperties>
</file>